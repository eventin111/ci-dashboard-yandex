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60506f3d944bc" /><Relationship Type="http://schemas.openxmlformats.org/officeDocument/2006/relationships/extended-properties" Target="/docProps/app.xml" Id="R8406dc5811f345cf" /><Relationship Type="http://schemas.openxmlformats.org/officeDocument/2006/relationships/officeDocument" Target="/ppt/presentation.xml" Id="Red549ccc0bda42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80e4c2ae544a2"/>
  </p:sldMasterIdLst>
  <p:notesMasterIdLst>
    <p:notesMasterId xmlns:r="http://schemas.openxmlformats.org/officeDocument/2006/relationships" r:id="Rf7e76f3b436b48d2"/>
  </p:notesMasterIdLst>
  <p:sldIdLst>
    <p:sldId xmlns:r="http://schemas.openxmlformats.org/officeDocument/2006/relationships" id="256" r:id="Rcfef52bedc614d3e"/>
    <p:sldId xmlns:r="http://schemas.openxmlformats.org/officeDocument/2006/relationships" id="257" r:id="Rc6ad1dd7b9524700"/>
    <p:sldId xmlns:r="http://schemas.openxmlformats.org/officeDocument/2006/relationships" id="258" r:id="R47d4d52fa3d1404f"/>
    <p:sldId xmlns:r="http://schemas.openxmlformats.org/officeDocument/2006/relationships" id="259" r:id="R388c9e8bf108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b5e5b611b4ab2" /><Relationship Type="http://schemas.openxmlformats.org/officeDocument/2006/relationships/slideMaster" Target="/ppt/slideMasters/slideMaster1.xml" Id="R5b380e4c2ae544a2" /><Relationship Type="http://schemas.openxmlformats.org/officeDocument/2006/relationships/notesMaster" Target="/ppt/notesMasters/notesMaster1.xml" Id="Rf7e76f3b436b48d2" /><Relationship Type="http://schemas.openxmlformats.org/officeDocument/2006/relationships/presProps" Target="/ppt/presProps.xml" Id="R7cc3a692734046a9" /><Relationship Type="http://schemas.openxmlformats.org/officeDocument/2006/relationships/tableStyles" Target="/ppt/tableStyles.xml" Id="R00ed2341b2c14723" /><Relationship Type="http://schemas.openxmlformats.org/officeDocument/2006/relationships/slide" Target="/ppt/slides/slide1.xml" Id="Rcfef52bedc614d3e" /><Relationship Type="http://schemas.openxmlformats.org/officeDocument/2006/relationships/slide" Target="/ppt/slides/slide2.xml" Id="Rc6ad1dd7b9524700" /><Relationship Type="http://schemas.openxmlformats.org/officeDocument/2006/relationships/slide" Target="/ppt/slides/slide3.xml" Id="R47d4d52fa3d1404f" /><Relationship Type="http://schemas.openxmlformats.org/officeDocument/2006/relationships/slide" Target="/ppt/slides/slide4.xml" Id="R388c9e8bf108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b66f09eff240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40ba359654062" /><Relationship Type="http://schemas.openxmlformats.org/officeDocument/2006/relationships/notesMaster" Target="/ppt/notesMasters/notesMaster1.xml" Id="Rd558504aeceb4c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2bb1adf2dd49d2" /><Relationship Type="http://schemas.openxmlformats.org/officeDocument/2006/relationships/notesMaster" Target="/ppt/notesMasters/notesMaster1.xml" Id="Rce31bd5d687c45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239c35fe64922" /><Relationship Type="http://schemas.openxmlformats.org/officeDocument/2006/relationships/notesMaster" Target="/ppt/notesMasters/notesMaster1.xml" Id="R941eb35ad6c740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a03137fd94c72" /><Relationship Type="http://schemas.openxmlformats.org/officeDocument/2006/relationships/notesMaster" Target="/ppt/notesMasters/notesMaster1.xml" Id="R7b0329f69265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cd78bc84442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dfaa0c4a04798" /><Relationship Type="http://schemas.openxmlformats.org/officeDocument/2006/relationships/slideLayout" Target="/ppt/slideLayouts/slideLayout1.xml" Id="R51d743c4a61942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743c4a61942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3dd5a46824d9d" /><Relationship Type="http://schemas.openxmlformats.org/officeDocument/2006/relationships/notesSlide" Target="/ppt/notesSlides/notesSlide1.xml" Id="R418c480510c7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0049c6e6341ac" /><Relationship Type="http://schemas.openxmlformats.org/officeDocument/2006/relationships/notesSlide" Target="/ppt/notesSlides/notesSlide2.xml" Id="R8ac9f25b65ae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7bebc035b4be7" /><Relationship Type="http://schemas.openxmlformats.org/officeDocument/2006/relationships/chart" Target="/ppt/slides/charts/chart1.xml" Id="R804316c9f8654fae" /><Relationship Type="http://schemas.openxmlformats.org/officeDocument/2006/relationships/chart" Target="/ppt/slides/charts/chart2.xml" Id="Ra333bb7d527447e3" /><Relationship Type="http://schemas.openxmlformats.org/officeDocument/2006/relationships/notesSlide" Target="/ppt/notesSlides/notesSlide3.xml" Id="Rf3911abe5a0b4f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e1341138f4c77" /><Relationship Type="http://schemas.openxmlformats.org/officeDocument/2006/relationships/notesSlide" Target="/ppt/notesSlides/notesSlide4.xml" Id="R26326d227f02407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Success Rate</c:v>
          </c:tx>
          <c:spPr>
            <a:solidFill xmlns:a="http://schemas.openxmlformats.org/drawingml/2006/main">
              <a:srgbClr val="73BF69"/>
            </a:solidFill>
          </c:spPr>
          <c:marker>
            <c:symbol val="none"/>
          </c:marker>
          <c:cat>
            <c:strLit>
              <c:ptCount val="8"/>
              <c:pt idx="0">
                <c:v>Н1</c:v>
              </c:pt>
              <c:pt idx="1">
                <c:v>Н2</c:v>
              </c:pt>
              <c:pt idx="2">
                <c:v>Н3</c:v>
              </c:pt>
              <c:pt idx="3">
                <c:v>Н4</c:v>
              </c:pt>
              <c:pt idx="4">
                <c:v>Н5</c:v>
              </c:pt>
              <c:pt idx="5">
                <c:v>Н6</c:v>
              </c:pt>
              <c:pt idx="6">
                <c:v>Н7</c:v>
              </c:pt>
              <c:pt idx="7">
                <c:v>Н8</c:v>
              </c:pt>
            </c:strLit>
          </c:cat>
          <c:val>
            <c:numLit>
              <c:formatCode>General</c:formatCode>
              <c:ptCount val="8"/>
              <c:pt idx="0">
                <c:v>86.7</c:v>
              </c:pt>
              <c:pt idx="1">
                <c:v>93.3</c:v>
              </c:pt>
              <c:pt idx="2">
                <c:v>75</c:v>
              </c:pt>
              <c:pt idx="3">
                <c:v>85.7</c:v>
              </c:pt>
              <c:pt idx="4">
                <c:v>78.6</c:v>
              </c:pt>
              <c:pt idx="5">
                <c:v>85.7</c:v>
              </c:pt>
              <c:pt idx="6">
                <c:v>78.6</c:v>
              </c:pt>
              <c:pt idx="7">
                <c:v>85.7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Total</c:v>
          </c:tx>
          <c:spPr>
            <a:solidFill xmlns:a="http://schemas.openxmlformats.org/drawingml/2006/main">
              <a:srgbClr val="5794F2"/>
            </a:solidFill>
          </c:spPr>
          <c:marker>
            <c:symbol val="none"/>
          </c:marker>
          <c:cat>
            <c:strLit>
              <c:ptCount val="8"/>
              <c:pt idx="0">
                <c:v>Н1</c:v>
              </c:pt>
              <c:pt idx="1">
                <c:v>Н2</c:v>
              </c:pt>
              <c:pt idx="2">
                <c:v>Н3</c:v>
              </c:pt>
              <c:pt idx="3">
                <c:v>Н4</c:v>
              </c:pt>
              <c:pt idx="4">
                <c:v>Н5</c:v>
              </c:pt>
              <c:pt idx="5">
                <c:v>Н6</c:v>
              </c:pt>
              <c:pt idx="6">
                <c:v>Н7</c:v>
              </c:pt>
              <c:pt idx="7">
                <c:v>Н8</c:v>
              </c:pt>
            </c:strLit>
          </c:cat>
          <c:val>
            <c:numLit>
              <c:formatCode>General</c:formatCode>
              <c:ptCount val="8"/>
              <c:pt idx="0">
                <c:v>15.4</c:v>
              </c:pt>
              <c:pt idx="1">
                <c:v>14.7</c:v>
              </c:pt>
              <c:pt idx="2">
                <c:v>11.55</c:v>
              </c:pt>
              <c:pt idx="3">
                <c:v>13.4</c:v>
              </c:pt>
              <c:pt idx="4">
                <c:v>26.15</c:v>
              </c:pt>
              <c:pt idx="5">
                <c:v>25.15</c:v>
              </c:pt>
              <c:pt idx="6">
                <c:v>13.55</c:v>
              </c:pt>
              <c:pt idx="7">
                <c:v>18.1</c:v>
              </c:pt>
            </c:numLit>
          </c:val>
        </c:ser>
        <c:ser>
          <c:idx val="1"/>
          <c:order val="1"/>
          <c:tx>
            <c:v>Queue</c:v>
          </c:tx>
          <c:spPr>
            <a:solidFill xmlns:a="http://schemas.openxmlformats.org/drawingml/2006/main">
              <a:srgbClr val="FF9830"/>
            </a:solidFill>
          </c:spPr>
          <c:marker>
            <c:symbol val="none"/>
          </c:marker>
          <c:cat>
            <c:strLit>
              <c:ptCount val="8"/>
              <c:pt idx="0">
                <c:v>Н1</c:v>
              </c:pt>
              <c:pt idx="1">
                <c:v>Н2</c:v>
              </c:pt>
              <c:pt idx="2">
                <c:v>Н3</c:v>
              </c:pt>
              <c:pt idx="3">
                <c:v>Н4</c:v>
              </c:pt>
              <c:pt idx="4">
                <c:v>Н5</c:v>
              </c:pt>
              <c:pt idx="5">
                <c:v>Н6</c:v>
              </c:pt>
              <c:pt idx="6">
                <c:v>Н7</c:v>
              </c:pt>
              <c:pt idx="7">
                <c:v>Н8</c:v>
              </c:pt>
            </c:strLit>
          </c:cat>
          <c:val>
            <c:numLit>
              <c:formatCode>General</c:formatCode>
              <c:ptCount val="8"/>
              <c:pt idx="0">
                <c:v>3.3</c:v>
              </c:pt>
              <c:pt idx="1">
                <c:v>3.3</c:v>
              </c:pt>
              <c:pt idx="2">
                <c:v>3.15</c:v>
              </c:pt>
              <c:pt idx="3">
                <c:v>2.85</c:v>
              </c:pt>
              <c:pt idx="4">
                <c:v>12.35</c:v>
              </c:pt>
              <c:pt idx="5">
                <c:v>11.4</c:v>
              </c:pt>
              <c:pt idx="6">
                <c:v>3.05</c:v>
              </c:pt>
              <c:pt idx="7">
                <c:v>2.35</c:v>
              </c:pt>
            </c:numLit>
          </c:val>
        </c:ser>
        <c:ser>
          <c:idx val="2"/>
          <c:order val="2"/>
          <c:tx>
            <c:v>Execution</c:v>
          </c:tx>
          <c:spPr>
            <a:solidFill xmlns:a="http://schemas.openxmlformats.org/drawingml/2006/main">
              <a:srgbClr val="B877D9"/>
            </a:solidFill>
          </c:spPr>
          <c:marker>
            <c:symbol val="none"/>
          </c:marker>
          <c:cat>
            <c:strLit>
              <c:ptCount val="8"/>
              <c:pt idx="0">
                <c:v>Н1</c:v>
              </c:pt>
              <c:pt idx="1">
                <c:v>Н2</c:v>
              </c:pt>
              <c:pt idx="2">
                <c:v>Н3</c:v>
              </c:pt>
              <c:pt idx="3">
                <c:v>Н4</c:v>
              </c:pt>
              <c:pt idx="4">
                <c:v>Н5</c:v>
              </c:pt>
              <c:pt idx="5">
                <c:v>Н6</c:v>
              </c:pt>
              <c:pt idx="6">
                <c:v>Н7</c:v>
              </c:pt>
              <c:pt idx="7">
                <c:v>Н8</c:v>
              </c:pt>
            </c:strLit>
          </c:cat>
          <c:val>
            <c:numLit>
              <c:formatCode>General</c:formatCode>
              <c:ptCount val="8"/>
              <c:pt idx="0">
                <c:v>12.5</c:v>
              </c:pt>
              <c:pt idx="1">
                <c:v>12.2</c:v>
              </c:pt>
              <c:pt idx="2">
                <c:v>7.9</c:v>
              </c:pt>
              <c:pt idx="3">
                <c:v>10.6</c:v>
              </c:pt>
              <c:pt idx="4">
                <c:v>15.4</c:v>
              </c:pt>
              <c:pt idx="5">
                <c:v>12.85</c:v>
              </c:pt>
              <c:pt idx="6">
                <c:v>10.05</c:v>
              </c:pt>
              <c:pt idx="7">
                <c:v>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ED46F-E31F-43CA-AAC9-70BEBF36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CF3AD-FB73-4BBE-868B-1E02E68D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PRODUCT &amp;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CB548-F202-4880-8454-71B5722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572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CI: стабильность</a:t>
            </a:r>
          </a:p>
          <a:p xmlns:a="http://schemas.openxmlformats.org/drawingml/2006/main">
            <a:pPr algn="l">
              <a:defRPr sz="4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и скорость обратной связи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28FA-1EC8-4A91-9FD3-E6B10A5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Концепция дашборда для продуктового менеджера</a:t>
            </a:r>
          </a:p>
          <a:p xmlns:a="http://schemas.openxmlformats.org/drawingml/2006/main">
            <a:pPr algn="l">
              <a:defRPr sz="19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и руководителя разработки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12111-6FB4-4645-BB54-027CBD0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630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7D04F-9CB1-453F-B417-4908C8F1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573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83,9%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B5205-74F1-42A9-858E-FBC0AF5C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Success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ACCFA-7B46-4F0F-A126-18FA363B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3437B-4843-4D86-A545-10C81AF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rPr>
              <a:t>17,0 мин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44AFD-2482-46B9-8402-FDAD2BF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Median 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DA1F3-BD23-4689-8C7D-1979276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120 синтетических запусков, 8 условных недель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16FB6-4668-4BE2-97E0-C0AD2EB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3614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9A239-67FA-4FC3-BD96-4B53148B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CI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374F3-0E8F-4A27-8C18-8EC3562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Решения и ключевые показатели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A6B38-9FB6-4F4A-A781-27AF99F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2D91-A5F2-44EF-AC75-DD83DEA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rPr>
              <a:t>Продуктовый менеджер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D78AB-A57D-4CFF-846E-85141292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322A-1D86-45D6-B960-92A778E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Готов ли релиз с учётом стабильности 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DF304-B223-4D37-A9AA-F64586C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A2907-70BD-409C-BAE1-56E2CA4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Замедляет ли CI поставку ценности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53BC3-33C0-47AE-9A0F-5782647E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B9BAA-1B92-41A9-AA8F-99120D99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9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Нужен ли ресурс на стабилизацию и техдолг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4A74C-5CAE-423F-85C5-5B9B8625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85900"/>
            <a:ext cx="190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B0F0-8F29-4457-AAB1-5255407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rPr>
              <a:t>Руководитель разработки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7B6EE-EBC3-4166-8585-4C0967B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544C7-724F-4225-800A-3FFAE98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3357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Где узкое место: очередь, этап, job или тест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155A2-A256-42E0-9766-E420E92B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FAF0D-7ED3-47A3-8B3E-5D51A89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479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85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Что исправлять раньше: тесты, jobs или инфраструктуру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DA483-64ED-4436-AC45-1C9CC1A8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76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D16B0-DE5D-4CDC-910E-916F489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7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Нужна ли пауза merge / release из-за критических ошибок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8786A-7CA3-477A-A3D7-53795A8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5 KPI, которые поддерживают эти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1ACDD-79EA-4FCD-B639-83DB2E3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3BE9D-2278-414D-887B-6CC7B1C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D681A-C655-4C65-871C-8836002A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Success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12FEE-FF3E-4A73-B48E-7F95F70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стабильность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AEBFF-233B-4E63-8C94-4FCFEC45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CDADF-5ABC-4A66-BB4D-91D584D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31A61-9CAE-4C03-A1E2-03483520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Pipeline Duration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4FC70-1A46-48D1-816A-3A20CD4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median / P90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47E2D-B758-45F6-BC1A-9C35C011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7F4C0-8B42-464B-8634-873548E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33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65D73-6AF2-457E-B113-F8586D2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Failure 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B0BFE-AA9D-4C60-B4F2-62AFDB1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Build / Tests / Deploy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2B012-4098-4159-B83A-7D86ABE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83CA12-AA17-4C34-B335-E57A9F60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33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5BBEAF-E610-4FCC-930B-CF40E45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Flaky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ACEA9-4F1B-4D6E-8D74-F0D92E3B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top failures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525722-B8AB-4296-9207-0415212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005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104599-2B75-4437-B6C4-F7A173D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33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D9A79D-60A6-4209-B1F3-69F76D55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MTTR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06583-3665-4087-95AF-ED92F69E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47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скорость восстановления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FB3AB-490A-434B-8F5D-627481F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В текущем XLSX полноценно рассчитываются первые два KPI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7CC937-3FE4-4F21-A884-E8110B62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3689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D4A2F5-2BFF-46EB-AF16-0608294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CI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DC0A-6E5E-4FB7-B104-0D6B2AB4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Исследование проблемы в дашборде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3694C-121E-4673-924D-F077E57A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669B1-DE56-47BB-A4AF-EDB4E69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1625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1728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6340B-19F6-424E-963D-A9611766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Success Rate по условным неделям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781050" y="2019300"/>
          <a:ext xmlns:a="http://schemas.openxmlformats.org/drawingml/2006/main" cx="476250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4316c9f8654fa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A8944-9A89-4D61-9A91-6F837A7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56197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1728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B17E3-E068-42B2-847B-3D089578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Median Pipeline Duration, мин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6134100" y="2019300"/>
          <a:ext xmlns:a="http://schemas.openxmlformats.org/drawingml/2006/main" cx="521970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33bb7d527447e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EFB0C-9F8F-4630-8CF5-A2CCC2AD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rPr>
              <a:t>Рабочие фильтры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1850-B8EC-4B95-BF64-044B032E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Неделя   •   размер изменения   •   статус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49DB-3C1D-4046-B3CE-7534DBFB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rPr>
              <a:t>Следующие разрезы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2C681-9505-4767-8939-1896254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Ветка   •   repo / service   •   команда   •  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F7133-35ED-4135-AD77-3F530DB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Путь от сигнала к причине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5D085-9486-45E2-90EB-20C583B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76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332E9-AE7D-424D-8028-E776FAF4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91C8D-5D8A-4B52-B89A-E61471F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292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Сигнал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43FB9-B757-438F-BD9D-25256BB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353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EEA11-CD41-4851-AC6B-466706C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05400"/>
            <a:ext cx="76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12778-7736-4139-9A5E-0198BB5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054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6D798-0FF9-4FF8-BF0A-A897A34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292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Период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C9857-7D74-4ACF-A362-6680683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353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27A60-2DEF-4073-AE56-2BC4FCE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76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723B4-B8E6-4B1D-AD88-7AB91F43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53CDE-2C56-4803-B939-EE17255D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292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Сегмент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21AF6-6177-4A5D-ADD2-B17A3D45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53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76DD5-ACC9-4494-82D7-510B444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05400"/>
            <a:ext cx="76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73706-2D1F-4E2D-ABBE-E70C08DC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054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32939-6575-4E0F-A50B-C3D34AA9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292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4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Этап /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20FA5-DE4B-416E-B3FA-8B9FB52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53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5ED78-6473-4A53-9BCA-07DA0E9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05400"/>
            <a:ext cx="76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9525">
            <a:solidFill>
              <a:srgbClr val="73BF6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1B8C6-A615-4B7E-9FAC-C1DE3A2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054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02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D953C-9F72-4C0A-8A06-87D4ED88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6292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3550F-CD1F-4989-9B90-361D07C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7953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A70833-918A-4790-A23C-7BC530F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ВОПРОС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AC563-83D8-4FAF-B53F-638EE2D7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Границы текущих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85DA2-F04B-4379-B8EA-62CC8ED4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F7246-1C49-4B77-A1B8-B27C67C3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90525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101728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B5EC9-8B0C-4D70-94FA-8034E75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BF69"/>
                </a:solidFill>
                <a:latin typeface="Helvetica Neue"/>
                <a:ea typeface="Helvetica Neue"/>
                <a:cs typeface="Helvetica Neue"/>
              </a:rPr>
              <a:t>Достаточно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42F88-EB14-4FC0-BA66-03011D6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1A6E0-456B-4C4C-A0BA-7798B536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Success Rate по неделям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07380-049F-460F-9624-3E67F52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8A315-FA88-4255-A2AE-0D7C3F02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Median и P90 duration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9000A-E017-4B82-82B2-C7D35D1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BF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CA1C5-9EB9-43FD-8141-2EE99192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Queue vs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5AC88-78E9-4F5F-B5D5-CBEEAEFD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Уровень pipeline уже покрыт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B79D8-E200-4694-BD43-4DCBA05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66850"/>
            <a:ext cx="687705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101728"/>
          </a:solidFill>
          <a:ln xmlns:a="http://schemas.openxmlformats.org/drawingml/2006/main" w="9525">
            <a:solidFill>
              <a:srgbClr val="2A344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7AD4D-1AED-41A5-A8EA-162FAF49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rPr>
              <a:t>Не хватает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715D7-E984-4A80-ABA6-18A091DC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Failure Rate by 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2FD8C-75CD-4B43-8964-810AA2C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failed_stage, job_name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8B3BA-9FF8-4C75-9443-30C0A8E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Top / flaky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8C4D8-6518-4159-9009-7DBA0B0E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test_name, status, failure_signature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B7510-436B-4C3C-8591-C9A950DE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MTTR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9A1C3-0036-4EEA-B278-7179845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incident_id, failed_at, resolved_at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921D1-EDCC-41B9-BDF7-B42DFA2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Оргразрезы и календарь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77E70-238F-4AF1-80D5-0579E3A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24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branch, repo, team, env, timestamps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4F1FD-9446-44BC-83EF-DAC03884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768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5794F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74F45-40F6-4799-8D6B-D9281B4F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794F2"/>
                </a:solidFill>
                <a:latin typeface="Helvetica Neue"/>
                <a:ea typeface="Helvetica Neue"/>
                <a:cs typeface="Helvetica Neue"/>
              </a:rPr>
              <a:t>3. Наблюдения по данным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AD334-8E2B-488D-841E-07EB17D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Заполнит автор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5C184-ECFA-4906-8A30-410F4E12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5505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FF983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49FAA-6AE1-455E-84E6-0F10968B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9830"/>
                </a:solidFill>
                <a:latin typeface="Helvetica Neue"/>
                <a:ea typeface="Helvetica Neue"/>
                <a:cs typeface="Helvetica Neue"/>
              </a:rPr>
              <a:t>4. Что исследовать или улучшить первым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CEB4C-060A-4C06-86DE-1D949DF5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Заполнит автор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FA6CC-CEBF-4F17-8D03-B856834C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Предположения: cancelled исключены из Success Rate и duration; недели 1–8 условные, не календарные.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CB5A9-2D33-491B-819C-A9F4BB9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AI использован для разбора XLSX, расчётов, SQL/Grafana и подготовки слайдов. Результаты сверены с исходным XLSX.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C0691-219F-4915-B05F-1C39419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8B3C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3692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2026-09-08T10:22:22.1950000Z</dcterms:created>
  <dcterms:modified xsi:type="dcterms:W3CDTF">2026-09-08T10:22:22.1950000Z</dcterms:modified>
</coreProperties>
</file>